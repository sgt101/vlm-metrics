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0" r:id="rId9"/>
    <p:sldId id="258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4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ph/o/0XTLG/https:/www.nature.com/natmachintel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574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19153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2A56"/>
                </a:solidFill>
              </a:defRPr>
            </a:pPr>
            <a:r>
              <a:rPr lang="en-GB" dirty="0"/>
              <a:t>Modern Model Risk Management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4241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rPr lang="en-GB" dirty="0"/>
              <a:t>Managing VLMs in regulated industries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27126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r>
              <a:rPr dirty="0"/>
              <a:t> | Responsible AI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4805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5A5A6"/>
                </a:solidFill>
              </a:defRPr>
            </a:pPr>
            <a:r>
              <a:t>Presenter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4696"/>
            <a:ext cx="61344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rPr lang="en-GB" dirty="0"/>
              <a:t>Unmanaged AI has limited value in critical applications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29393" y="1621857"/>
            <a:ext cx="8759257" cy="3621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First self driving car was tested in 1995 (Pittsburgh to San Diego)</a:t>
            </a:r>
          </a:p>
          <a:p>
            <a:pPr marL="742950" lvl="1" indent="-285750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Self driving cars are still being developed thirty years later.</a:t>
            </a: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</a:t>
            </a:r>
            <a:r>
              <a:rPr lang="en-GB" dirty="0"/>
              <a:t> AI largely failed during Covid-19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Only 2 of 232 general diagnostic models rated as promising (</a:t>
            </a:r>
            <a:r>
              <a:rPr lang="en-GB" i="1" dirty="0"/>
              <a:t>BMJ</a:t>
            </a:r>
            <a:r>
              <a:rPr lang="en-GB" dirty="0"/>
              <a:t> 2020;369:m1328 )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0 of 62 models effective in using radiographs or CT scans </a:t>
            </a:r>
          </a:p>
          <a:p>
            <a:pPr lvl="1">
              <a:defRPr sz="1800">
                <a:solidFill>
                  <a:srgbClr val="212F3D"/>
                </a:solidFill>
              </a:defRPr>
            </a:pPr>
            <a:r>
              <a:rPr lang="en-GB" dirty="0"/>
              <a:t>	(</a:t>
            </a:r>
            <a:r>
              <a:rPr lang="en-GB" i="1" dirty="0">
                <a:hlinkClick r:id="rId2"/>
              </a:rPr>
              <a:t>Nature Machine Intelligence</a:t>
            </a:r>
            <a:r>
              <a:rPr lang="en-GB" dirty="0"/>
              <a:t> </a:t>
            </a:r>
            <a:r>
              <a:rPr lang="en-GB" b="1" dirty="0"/>
              <a:t>volume 3</a:t>
            </a:r>
            <a:r>
              <a:rPr lang="en-GB" dirty="0"/>
              <a:t>, pages199–217(2021)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$800bn is to be invested in AI; how will we create the return that is needed?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Impossible if critical applications are out of bounds </a:t>
            </a:r>
          </a:p>
          <a:p>
            <a:pPr marL="742950" lvl="1" indent="-285750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562F-439A-000E-1479-AC307946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A85F51-B062-5DC0-6DE9-E3D9F98F314F}"/>
              </a:ext>
            </a:extLst>
          </p:cNvPr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87211-1D0B-4522-FD17-FA7FEA3923EA}"/>
              </a:ext>
            </a:extLst>
          </p:cNvPr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DB38E-6AC9-AE19-A885-7606AA324439}"/>
              </a:ext>
            </a:extLst>
          </p:cNvPr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146795-36EA-95B9-197A-72D329E62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965" y="940294"/>
            <a:ext cx="6695197" cy="335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826AF3-3E19-8E09-8852-6719981C5F4D}"/>
              </a:ext>
            </a:extLst>
          </p:cNvPr>
          <p:cNvSpPr txBox="1"/>
          <p:nvPr/>
        </p:nvSpPr>
        <p:spPr>
          <a:xfrm>
            <a:off x="5466390" y="4737035"/>
            <a:ext cx="367761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https://</a:t>
            </a:r>
            <a:r>
              <a:rPr lang="en-GB" sz="1100" dirty="0" err="1"/>
              <a:t>knightcolumbia.org</a:t>
            </a:r>
            <a:r>
              <a:rPr lang="en-GB" sz="1100" dirty="0"/>
              <a:t>/content/ai-as-normal-technology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C931E-A4CE-2E4D-2A26-485F1371ACED}"/>
              </a:ext>
            </a:extLst>
          </p:cNvPr>
          <p:cNvSpPr txBox="1"/>
          <p:nvPr/>
        </p:nvSpPr>
        <p:spPr>
          <a:xfrm>
            <a:off x="4944601" y="683617"/>
            <a:ext cx="748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adoption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901BB-0D62-504D-14F2-B8F84B9D8E44}"/>
              </a:ext>
            </a:extLst>
          </p:cNvPr>
          <p:cNvSpPr txBox="1"/>
          <p:nvPr/>
        </p:nvSpPr>
        <p:spPr>
          <a:xfrm>
            <a:off x="4944601" y="1726533"/>
            <a:ext cx="861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adaptation</a:t>
            </a:r>
          </a:p>
        </p:txBody>
      </p:sp>
    </p:spTree>
    <p:extLst>
      <p:ext uri="{BB962C8B-B14F-4D97-AF65-F5344CB8AC3E}">
        <p14:creationId xmlns:p14="http://schemas.microsoft.com/office/powerpoint/2010/main" val="46185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0A3F-9DDE-6401-86FF-BEDEA2AD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970D80-BF8E-8F5A-6656-CB0791FF8FE2}"/>
              </a:ext>
            </a:extLst>
          </p:cNvPr>
          <p:cNvSpPr/>
          <p:nvPr/>
        </p:nvSpPr>
        <p:spPr>
          <a:xfrm>
            <a:off x="0" y="206733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4BACE2-D199-54C0-D21C-FD51ACA59680}"/>
              </a:ext>
            </a:extLst>
          </p:cNvPr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659C6-C9BA-58FE-F9A2-A060EA5CE0AB}"/>
              </a:ext>
            </a:extLst>
          </p:cNvPr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09DD7-B787-3DBF-5ACA-6C1A9BE7B548}"/>
              </a:ext>
            </a:extLst>
          </p:cNvPr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E2EE1B-52C9-87F5-EACE-F8A396BD35BE}"/>
              </a:ext>
            </a:extLst>
          </p:cNvPr>
          <p:cNvSpPr txBox="1"/>
          <p:nvPr/>
        </p:nvSpPr>
        <p:spPr>
          <a:xfrm>
            <a:off x="457200" y="731520"/>
            <a:ext cx="228780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rPr lang="en-GB" dirty="0"/>
              <a:t>Opportunity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4EC73-2A0A-8FEF-D111-B016FD36F009}"/>
              </a:ext>
            </a:extLst>
          </p:cNvPr>
          <p:cNvSpPr txBox="1"/>
          <p:nvPr/>
        </p:nvSpPr>
        <p:spPr>
          <a:xfrm>
            <a:off x="457200" y="1463040"/>
            <a:ext cx="6031331" cy="1502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MRM designed for VLMs </a:t>
            </a:r>
            <a:endParaRPr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Tools that support proper characterisation of VLM behaviour</a:t>
            </a:r>
            <a:endParaRPr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Process automation and autonomy that minimises risk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223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40CD-99B2-B038-6488-3EDAEA16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4A8C1-D395-D28E-6FCB-292FA6C9DC0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BBB46E-5CCE-2C45-86D8-80C5443797DD}"/>
              </a:ext>
            </a:extLst>
          </p:cNvPr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703D7-575D-C7EB-0B67-1DFA1646501A}"/>
              </a:ext>
            </a:extLst>
          </p:cNvPr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9B823-B355-E590-1812-B9C99EC606B8}"/>
              </a:ext>
            </a:extLst>
          </p:cNvPr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9F2ED-2539-E55E-3EC8-5C35801A63C9}"/>
              </a:ext>
            </a:extLst>
          </p:cNvPr>
          <p:cNvSpPr txBox="1"/>
          <p:nvPr/>
        </p:nvSpPr>
        <p:spPr>
          <a:xfrm>
            <a:off x="457200" y="731520"/>
            <a:ext cx="14241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rPr lang="en-GB" dirty="0"/>
              <a:t>Market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221A9-2528-9A6E-8B7A-5B0BDB5A5B79}"/>
              </a:ext>
            </a:extLst>
          </p:cNvPr>
          <p:cNvSpPr txBox="1"/>
          <p:nvPr/>
        </p:nvSpPr>
        <p:spPr>
          <a:xfrm>
            <a:off x="457200" y="1463040"/>
            <a:ext cx="6086923" cy="2402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Life Sciences </a:t>
            </a:r>
            <a:endParaRPr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endParaRPr lang="en-GB"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Financial Services (~£300bn UK)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SS1/23 and SR11-7 mandate model risk practice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PRA is pushing for adoption across all FS inc. insurance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9063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70506-A9B8-F389-1CDE-F2452DC7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340F81-9818-BB95-29E8-8801288A1D7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685B4-8286-D80A-2C5C-62F421A6D965}"/>
              </a:ext>
            </a:extLst>
          </p:cNvPr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3E26A-1580-4F04-CC59-E00DF1C31199}"/>
              </a:ext>
            </a:extLst>
          </p:cNvPr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93A10-431D-ECE6-B87B-D10C6F66EAC1}"/>
              </a:ext>
            </a:extLst>
          </p:cNvPr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78B9B7-BE2B-F4FE-2F20-370DE1CDF9C5}"/>
              </a:ext>
            </a:extLst>
          </p:cNvPr>
          <p:cNvSpPr txBox="1"/>
          <p:nvPr/>
        </p:nvSpPr>
        <p:spPr>
          <a:xfrm>
            <a:off x="457200" y="731520"/>
            <a:ext cx="10670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rPr lang="en-GB" dirty="0"/>
              <a:t>Offer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F76BB-1F94-2837-7665-66935A09538D}"/>
              </a:ext>
            </a:extLst>
          </p:cNvPr>
          <p:cNvSpPr txBox="1"/>
          <p:nvPr/>
        </p:nvSpPr>
        <p:spPr>
          <a:xfrm>
            <a:off x="457200" y="1463040"/>
            <a:ext cx="4466223" cy="1502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Jen’s introspection tool </a:t>
            </a:r>
            <a:endParaRPr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Output quantification tools (Simon’s paper) </a:t>
            </a:r>
            <a:endParaRPr dirty="0"/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r>
              <a:rPr dirty="0"/>
              <a:t>• </a:t>
            </a:r>
            <a:r>
              <a:rPr lang="en-GB" dirty="0"/>
              <a:t>Agentic model risk platform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3264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3349-3D76-E280-6D6A-2D2D86A5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AB1264-07EC-B8E4-557A-7C03F12A3F53}"/>
              </a:ext>
            </a:extLst>
          </p:cNvPr>
          <p:cNvSpPr/>
          <p:nvPr/>
        </p:nvSpPr>
        <p:spPr>
          <a:xfrm>
            <a:off x="0" y="23965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F95EC-7D89-FC39-FCB2-89DB900AE108}"/>
              </a:ext>
            </a:extLst>
          </p:cNvPr>
          <p:cNvSpPr/>
          <p:nvPr/>
        </p:nvSpPr>
        <p:spPr>
          <a:xfrm>
            <a:off x="0" y="457200"/>
            <a:ext cx="9144000" cy="182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123D4-C51D-5FF3-8125-DAD72D1580C2}"/>
              </a:ext>
            </a:extLst>
          </p:cNvPr>
          <p:cNvSpPr txBox="1"/>
          <p:nvPr/>
        </p:nvSpPr>
        <p:spPr>
          <a:xfrm>
            <a:off x="457200" y="137160"/>
            <a:ext cx="8755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rPr lang="en-GB" dirty="0"/>
              <a:t>Modelography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FA5B5-E0E5-E2D8-8173-940CD821D302}"/>
              </a:ext>
            </a:extLst>
          </p:cNvPr>
          <p:cNvSpPr txBox="1"/>
          <p:nvPr/>
        </p:nvSpPr>
        <p:spPr>
          <a:xfrm>
            <a:off x="8412480" y="137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5A5A6"/>
                </a:solidFill>
              </a:defRPr>
            </a:pPr>
            <a: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A6D7E-F57F-74D2-FBB1-47818BA18E35}"/>
              </a:ext>
            </a:extLst>
          </p:cNvPr>
          <p:cNvSpPr txBox="1"/>
          <p:nvPr/>
        </p:nvSpPr>
        <p:spPr>
          <a:xfrm>
            <a:off x="457200" y="731520"/>
            <a:ext cx="7938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rPr lang="en-GB" dirty="0"/>
              <a:t>Ask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F4FD0-53F1-3CBF-0007-D0E558EB3948}"/>
              </a:ext>
            </a:extLst>
          </p:cNvPr>
          <p:cNvSpPr txBox="1"/>
          <p:nvPr/>
        </p:nvSpPr>
        <p:spPr>
          <a:xfrm>
            <a:off x="457200" y="1199406"/>
            <a:ext cx="8445197" cy="1502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212F3D"/>
                </a:solidFill>
              </a:defRPr>
            </a:pPr>
            <a:endParaRPr lang="en-GB" dirty="0"/>
          </a:p>
          <a:p>
            <a:pPr marL="285750" indent="-285750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Is there someone in your network struggling with LLM compliance issues?</a:t>
            </a:r>
          </a:p>
          <a:p>
            <a:pPr marL="285750" indent="-285750">
              <a:lnSpc>
                <a:spcPct val="130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212F3D"/>
                </a:solidFill>
              </a:defRPr>
            </a:pPr>
            <a:r>
              <a:rPr lang="en-GB" dirty="0"/>
              <a:t>Or… is there someone who should be struggling but is currently unaware of the risk?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264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92A56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C3E50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400">
                <a:solidFill>
                  <a:srgbClr val="95A5A6"/>
                </a:solidFill>
              </a:defRPr>
            </a:pPr>
            <a:r>
              <a:t>contact@vlm-metrics.com</a:t>
            </a:r>
          </a:p>
          <a:p>
            <a:pPr algn="ctr">
              <a:spcAft>
                <a:spcPts val="600"/>
              </a:spcAft>
              <a:defRPr sz="1400">
                <a:solidFill>
                  <a:srgbClr val="95A5A6"/>
                </a:solidFill>
              </a:defRPr>
            </a:pPr>
            <a:r>
              <a:t>www.vlm-metrics.com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5A5A6"/>
                </a:solidFill>
              </a:defRPr>
            </a:pPr>
            <a:r>
              <a:t>VLM-Metrics | Responsible AI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DCDCD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A56"/>
                </a:solidFill>
              </a:defRPr>
            </a:pPr>
            <a:r>
              <a:t>Section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5A5A6"/>
                </a:solidFill>
              </a:defRPr>
            </a:pPr>
            <a:r>
              <a:t>VLM-Metrics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269</Words>
  <Application>Microsoft Macintosh PowerPoint</Application>
  <PresentationFormat>On-screen Show (16:9)</PresentationFormat>
  <Paragraphs>55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Simon Thompson</cp:lastModifiedBy>
  <cp:revision>3</cp:revision>
  <dcterms:created xsi:type="dcterms:W3CDTF">2013-01-27T09:14:16Z</dcterms:created>
  <dcterms:modified xsi:type="dcterms:W3CDTF">2025-12-08T11:47:01Z</dcterms:modified>
  <cp:category/>
</cp:coreProperties>
</file>